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  <p:embeddedFont>
      <p:font typeface="Cascadia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9/KYjwowroymptoUKMVamvm2l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scadiaMono-bold.fntdata"/><Relationship Id="rId11" Type="http://schemas.openxmlformats.org/officeDocument/2006/relationships/slide" Target="slides/slide7.xml"/><Relationship Id="rId22" Type="http://schemas.openxmlformats.org/officeDocument/2006/relationships/font" Target="fonts/CascadiaMono-boldItalic.fntdata"/><Relationship Id="rId10" Type="http://schemas.openxmlformats.org/officeDocument/2006/relationships/slide" Target="slides/slide6.xml"/><Relationship Id="rId21" Type="http://schemas.openxmlformats.org/officeDocument/2006/relationships/font" Target="fonts/Cascadia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ascadiaMono-regular.fnt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https://www.prisma-statement.org/prisma-2020 (contexto geral do PRISMA 2020)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(PRISMA 2020: diretrizes de reporte para revisões sistemáticas)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(Kitchenham &amp; Charters: diretrizes para SLR em Engenharia de Software/Computação)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(estrutura típica do processo de SLR, incluindo planejamento/protocolo)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(recomendações de transparência e reporte em revisões sistemáticas)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(planejamento: questões e critérios; frameworks como PICOC são comuns em SLR em computação)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(protocolo, critérios e necessidade de metodologia auditável)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(PRISMA 2020 reforça transparência na identificação/seleção de estudos)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29da6c9d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b529da6c9d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(protocolo, critérios e necessidade de metodologia auditável)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(PRISMA 2020 reforça transparência na identificação/seleção de estudos)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45" name="Google Shape;145;g3b529da6c9d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(recomenda uso de múltiplas fontes e snowballing para cobrir a literatura)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(uso de strings, sinônimos, operadores booleanos e necessidade de registrar queries)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(ênfase em registro da estratégia e gestão de referências)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https://www.rayyan.ai/ (ferramenta de triagem/gestão de revisões)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(PRISMA: recomenda transparência na seleção e motivos de exclusão)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https://www.rayyan.ai/ (plataforma de triagem para revisões)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https://pubmed.ncbi.nlm.nih.gov/35655155/ (estudo sobre uso do Rayyan em triagem de resumos)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(extração de dados e avaliação de qualidade como etapas do processo)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https://www.bmj.com/content/372/bmj.n71 (PRISMA: recomenda relatar métodos de avaliação e extração)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https://legacyfileshare.elsevier.com/promis_misc/525444systematicreviewsguide.pdf (checklists de planejamento/execução em SLR)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https://www.prisma-statement.org/prisma-2020 (materiais PRISMA 2020 e checklist)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90" name="Google Shape;2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://onlinelibrary.wiley.com" TargetMode="External"/><Relationship Id="rId10" Type="http://schemas.openxmlformats.org/officeDocument/2006/relationships/hyperlink" Target="http://link.springer.com" TargetMode="External"/><Relationship Id="rId13" Type="http://schemas.openxmlformats.org/officeDocument/2006/relationships/hyperlink" Target="http://plos.org" TargetMode="External"/><Relationship Id="rId12" Type="http://schemas.openxmlformats.org/officeDocument/2006/relationships/hyperlink" Target="http://arxiv.or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ebofscience.com" TargetMode="External"/><Relationship Id="rId4" Type="http://schemas.openxmlformats.org/officeDocument/2006/relationships/hyperlink" Target="http://scopus.com" TargetMode="External"/><Relationship Id="rId9" Type="http://schemas.openxmlformats.org/officeDocument/2006/relationships/hyperlink" Target="http://sciencedirect.com" TargetMode="External"/><Relationship Id="rId5" Type="http://schemas.openxmlformats.org/officeDocument/2006/relationships/hyperlink" Target="http://scholar.google.com" TargetMode="External"/><Relationship Id="rId6" Type="http://schemas.openxmlformats.org/officeDocument/2006/relationships/hyperlink" Target="http://www.dblp.or" TargetMode="External"/><Relationship Id="rId7" Type="http://schemas.openxmlformats.org/officeDocument/2006/relationships/hyperlink" Target="http://ieeexplore.ieee.org" TargetMode="External"/><Relationship Id="rId8" Type="http://schemas.openxmlformats.org/officeDocument/2006/relationships/hyperlink" Target="http://dl.acm.or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77240" y="1417320"/>
            <a:ext cx="8732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</a:t>
            </a:r>
            <a:r>
              <a:rPr b="1"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usca sistemática de </a:t>
            </a:r>
            <a:r>
              <a:rPr b="1" lang="en-US" sz="4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artigos científicos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77240" y="3703320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9921240" y="1143000"/>
            <a:ext cx="1325880" cy="1325880"/>
          </a:xfrm>
          <a:prstGeom prst="ellipse">
            <a:avLst/>
          </a:prstGeom>
          <a:solidFill>
            <a:srgbClr val="1E293B"/>
          </a:solidFill>
          <a:ln cap="flat" cmpd="sng" w="254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222992" y="1444752"/>
            <a:ext cx="713232" cy="713232"/>
          </a:xfrm>
          <a:prstGeom prst="ellipse">
            <a:avLst/>
          </a:prstGeom>
          <a:solidFill>
            <a:srgbClr val="0F172A"/>
          </a:solidFill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 rot="2700000">
            <a:off x="11292840" y="2606040"/>
            <a:ext cx="502920" cy="502920"/>
          </a:xfrm>
          <a:prstGeom prst="straightConnector1">
            <a:avLst/>
          </a:prstGeom>
          <a:noFill/>
          <a:ln cap="flat" cmpd="sng" w="762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1) Visão geral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Busca sistemática = processo rastreável e reprodutível para identificar evidências relevantes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O que torna uma busca “sistemática”?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66928" y="1508760"/>
            <a:ext cx="1106424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86968" y="1828800"/>
            <a:ext cx="1056132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Pergunta de pesquisa explícita (escopo claro e justificável)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Protocolo antes da execução (fontes, strings, critérios, passos)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Registro detalhado do que foi feito (para auditoria e repetição)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Triagem e seleção com critérios objetivos (e idealmente por 2 revisores)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Relato transparente dos resultados e exclusões (ex.: diagrama PRISMA)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2) Fluxo da busca sistemática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Dica: trate como um “pipeline” com entradas, decisões e saídas documentadas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Pipeline recomendado (do início ao reporte)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66928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66928" y="1508760"/>
            <a:ext cx="1676400" cy="14630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58368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58368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Pergunta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58368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Defina o que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quer descobrir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2270760" y="292608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" name="Google Shape;46;p3"/>
          <p:cNvSpPr/>
          <p:nvPr/>
        </p:nvSpPr>
        <p:spPr>
          <a:xfrm>
            <a:off x="2444496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444496" y="1508760"/>
            <a:ext cx="1676400" cy="1463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535936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535936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Protocolo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535936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Planeje fontes,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critérios 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4148328" y="292608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" name="Google Shape;52;p3"/>
          <p:cNvSpPr/>
          <p:nvPr/>
        </p:nvSpPr>
        <p:spPr>
          <a:xfrm>
            <a:off x="4322064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322064" y="1508760"/>
            <a:ext cx="1676400" cy="14630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13504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413504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Busca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413504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Execute nas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bases 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registre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6025896" y="292608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3"/>
          <p:cNvSpPr/>
          <p:nvPr/>
        </p:nvSpPr>
        <p:spPr>
          <a:xfrm>
            <a:off x="6199632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199632" y="1508760"/>
            <a:ext cx="1676400" cy="1463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291072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91072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Triagem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291072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Deduplicação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+ seleção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7903464" y="292608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3"/>
          <p:cNvSpPr/>
          <p:nvPr/>
        </p:nvSpPr>
        <p:spPr>
          <a:xfrm>
            <a:off x="8077200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077200" y="1508760"/>
            <a:ext cx="1676400" cy="14630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168640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168640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Extração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68640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Dados 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qualidade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9781032" y="292608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3"/>
          <p:cNvSpPr/>
          <p:nvPr/>
        </p:nvSpPr>
        <p:spPr>
          <a:xfrm>
            <a:off x="9954768" y="1508760"/>
            <a:ext cx="167640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954768" y="1508760"/>
            <a:ext cx="1676400" cy="1463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046208" y="1709928"/>
            <a:ext cx="149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475569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46208" y="2011680"/>
            <a:ext cx="149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Relato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046208" y="2377440"/>
            <a:ext cx="149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PRISMA 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66928" y="4663440"/>
            <a:ext cx="11064240" cy="105156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2960" y="48920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Objetivo: maximizar cobertura (recall) sem perder precisão — e conseguir repetir a busca no futuro.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3) Pergunta de pesquisa e escopo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Ferramentas como PICOC ajudam a transformar “tema” em pergunta pesquisável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Comece pela pergunta (ex.: PICOC)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66928" y="1508760"/>
            <a:ext cx="5623560" cy="4617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68680" y="1691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PICOC (exemplo para IA)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68680" y="2066544"/>
            <a:ext cx="507492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987552" y="223113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325880" y="22128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542032" y="2212848"/>
            <a:ext cx="3310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Modelos/Aplicações de IA (ex.: LLMs em saúde)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68680" y="2834640"/>
            <a:ext cx="507492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87552" y="29992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325880" y="2980944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542032" y="2980944"/>
            <a:ext cx="3310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Técnica (ex.: RAG, fine-tuning, RLHF)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68680" y="3602736"/>
            <a:ext cx="507492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87552" y="376732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325880" y="374904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542032" y="3749040"/>
            <a:ext cx="3310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Baselines/abordagens alternativas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68680" y="4370832"/>
            <a:ext cx="507492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87552" y="453542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325880" y="4517136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542032" y="4517136"/>
            <a:ext cx="3310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Métricas (ex.: acurácia, F1, robustez, custo)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68680" y="5138928"/>
            <a:ext cx="5074920" cy="6858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87552" y="53035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25880" y="5285232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542032" y="5285232"/>
            <a:ext cx="33101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Cenário (ex.: idioma, domínio, hardware, datasets)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4652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61111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446520" y="1965960"/>
            <a:ext cx="5184648" cy="3931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766560" y="2240280"/>
            <a:ext cx="45720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Pergunta (bem formada):</a:t>
            </a:r>
            <a:b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“Quais técnicas de recuperação (RAG) melhoram a factualidade de LLMs em tarefas de QA em português, e sob quais métricas e datasets?”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Escopo (defina cedo):</a:t>
            </a:r>
            <a:b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Intervalo de anos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Tipos de publicação (conf./journal/preprint)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Idiomas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Áreas (NLP, visão, RL, etc.)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Critérios mínimos (código, dataset, avaliação)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4) Protocolo: o que decidir 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Um bom protocolo evita “mover a trave” durante a revisão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Protocolo: decisões mínimas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66928" y="1508760"/>
            <a:ext cx="553212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2960" y="1764792"/>
            <a:ext cx="502920" cy="50292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22960" y="181965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435608" y="17373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Fontes de busca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35608" y="2121408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Bases (IEEE/ACM/Scopus/WoS), repositórios (arXiv),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“grey literature” (teses, relatórios) e estratégia de snowballing (referências/citações).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928" y="3246120"/>
            <a:ext cx="553212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" y="355701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435608" y="34747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Critérios I/E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435608" y="3858768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Inclusão/Exclusão: tópico, tipo de estudo, idioma,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período, qualidade mínima, disponibilidade de texto completo.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66928" y="4983480"/>
            <a:ext cx="55321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22960" y="5239512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22960" y="529437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435608" y="52120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Plano de registro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435608" y="5596128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Como salvar as queries, datas, versões das bases,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quantidades retornadas, e como lidar com duplicatas.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4652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61111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 rápido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46520" y="1965960"/>
            <a:ext cx="5184648" cy="4434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766560" y="2286000"/>
            <a:ext cx="4681728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Intervalo de anos (ex.: 2015–2026)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Idiomas (ex.: EN/PT)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Tipos de publicação (conf./journal/preprint)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Campos de busca (título/resumo/palavras-chave)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Plano de snowballing (1ª e 2ª rodada?)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Ferramenta de triagem e gestão (Zotero/Rayyan)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529da6c9d_0_3"/>
          <p:cNvSpPr/>
          <p:nvPr/>
        </p:nvSpPr>
        <p:spPr>
          <a:xfrm>
            <a:off x="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b529da6c9d_0_3"/>
          <p:cNvSpPr/>
          <p:nvPr/>
        </p:nvSpPr>
        <p:spPr>
          <a:xfrm>
            <a:off x="566928" y="128016"/>
            <a:ext cx="11057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Fontes de Busca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b529da6c9d_0_3"/>
          <p:cNvSpPr/>
          <p:nvPr/>
        </p:nvSpPr>
        <p:spPr>
          <a:xfrm>
            <a:off x="0" y="6510528"/>
            <a:ext cx="12191700" cy="3474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b529da6c9d_0_3"/>
          <p:cNvSpPr/>
          <p:nvPr/>
        </p:nvSpPr>
        <p:spPr>
          <a:xfrm>
            <a:off x="566928" y="6583680"/>
            <a:ext cx="1105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Um bom protocolo evita “mover a trave” durante a revisão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b529da6c9d_0_3"/>
          <p:cNvSpPr/>
          <p:nvPr/>
        </p:nvSpPr>
        <p:spPr>
          <a:xfrm>
            <a:off x="566928" y="841248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Fontes confiáveis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b529da6c9d_0_3"/>
          <p:cNvSpPr/>
          <p:nvPr/>
        </p:nvSpPr>
        <p:spPr>
          <a:xfrm>
            <a:off x="596975" y="1515118"/>
            <a:ext cx="5532000" cy="203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b529da6c9d_0_3"/>
          <p:cNvSpPr/>
          <p:nvPr/>
        </p:nvSpPr>
        <p:spPr>
          <a:xfrm>
            <a:off x="853000" y="2358327"/>
            <a:ext cx="502800" cy="5028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b529da6c9d_0_3"/>
          <p:cNvSpPr/>
          <p:nvPr/>
        </p:nvSpPr>
        <p:spPr>
          <a:xfrm>
            <a:off x="853007" y="2339317"/>
            <a:ext cx="502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b529da6c9d_0_3"/>
          <p:cNvSpPr/>
          <p:nvPr/>
        </p:nvSpPr>
        <p:spPr>
          <a:xfrm>
            <a:off x="1465655" y="1805197"/>
            <a:ext cx="4480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Repositórios brasileiros: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b529da6c9d_0_3"/>
          <p:cNvSpPr/>
          <p:nvPr/>
        </p:nvSpPr>
        <p:spPr>
          <a:xfrm>
            <a:off x="1465655" y="2292529"/>
            <a:ext cx="44805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Scielo Brasil (scielo.br)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Portal de Periódicos CAPES (periodicos.capes.gov.br)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Biblioteca Digital Brasileira de Teses e Dissertações (bdtd.ibict.br)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157" name="Google Shape;157;g3b529da6c9d_0_3"/>
          <p:cNvSpPr/>
          <p:nvPr/>
        </p:nvSpPr>
        <p:spPr>
          <a:xfrm>
            <a:off x="634525" y="3637997"/>
            <a:ext cx="5532000" cy="276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b529da6c9d_0_3"/>
          <p:cNvSpPr/>
          <p:nvPr/>
        </p:nvSpPr>
        <p:spPr>
          <a:xfrm>
            <a:off x="962860" y="3675898"/>
            <a:ext cx="502800" cy="5028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b529da6c9d_0_3"/>
          <p:cNvSpPr/>
          <p:nvPr/>
        </p:nvSpPr>
        <p:spPr>
          <a:xfrm>
            <a:off x="962860" y="3718637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b529da6c9d_0_3"/>
          <p:cNvSpPr/>
          <p:nvPr/>
        </p:nvSpPr>
        <p:spPr>
          <a:xfrm>
            <a:off x="1465658" y="3716591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Bases de dados científicas: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529da6c9d_0_3"/>
          <p:cNvSpPr/>
          <p:nvPr/>
        </p:nvSpPr>
        <p:spPr>
          <a:xfrm>
            <a:off x="1405558" y="4036701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Web of Science (</a:t>
            </a:r>
            <a:r>
              <a:rPr lang="en-US" sz="1300" u="sng">
                <a:solidFill>
                  <a:schemeClr val="hlink"/>
                </a:solidFill>
                <a:hlinkClick r:id="rId3"/>
              </a:rPr>
              <a:t>webofscience.com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Scopus (</a:t>
            </a:r>
            <a:r>
              <a:rPr lang="en-US" sz="1300" u="sng">
                <a:solidFill>
                  <a:schemeClr val="hlink"/>
                </a:solidFill>
                <a:hlinkClick r:id="rId4"/>
              </a:rPr>
              <a:t>scopus.com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Google Scholar (</a:t>
            </a:r>
            <a:r>
              <a:rPr lang="en-US" sz="1300" u="sng">
                <a:solidFill>
                  <a:schemeClr val="hlink"/>
                </a:solidFill>
                <a:hlinkClick r:id="rId5"/>
              </a:rPr>
              <a:t>scholar.google.com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DBLP (</a:t>
            </a:r>
            <a:r>
              <a:rPr lang="en-US" sz="1300" u="sng">
                <a:solidFill>
                  <a:schemeClr val="hlink"/>
                </a:solidFill>
                <a:hlinkClick r:id="rId6"/>
              </a:rPr>
              <a:t>www.dblp.or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IEEE Xplore (</a:t>
            </a:r>
            <a:r>
              <a:rPr lang="en-US" sz="1300" u="sng">
                <a:solidFill>
                  <a:schemeClr val="hlink"/>
                </a:solidFill>
                <a:hlinkClick r:id="rId7"/>
              </a:rPr>
              <a:t>ieeexplore.ieee.org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ACM Digital Library (</a:t>
            </a:r>
            <a:r>
              <a:rPr lang="en-US" sz="1300" u="sng">
                <a:solidFill>
                  <a:schemeClr val="hlink"/>
                </a:solidFill>
                <a:hlinkClick r:id="rId8"/>
              </a:rPr>
              <a:t>dl.acm.org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ScienceDirect (</a:t>
            </a:r>
            <a:r>
              <a:rPr lang="en-US" sz="1300" u="sng">
                <a:solidFill>
                  <a:schemeClr val="hlink"/>
                </a:solidFill>
                <a:hlinkClick r:id="rId9"/>
              </a:rPr>
              <a:t>sciencedirect.com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Springer (</a:t>
            </a:r>
            <a:r>
              <a:rPr lang="en-US" sz="1300" u="sng">
                <a:solidFill>
                  <a:schemeClr val="hlink"/>
                </a:solidFill>
                <a:hlinkClick r:id="rId10"/>
              </a:rPr>
              <a:t>link.springer.com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Wiley Online Library (</a:t>
            </a:r>
            <a:r>
              <a:rPr lang="en-US" sz="1300" u="sng">
                <a:solidFill>
                  <a:schemeClr val="hlink"/>
                </a:solidFill>
                <a:hlinkClick r:id="rId11"/>
              </a:rPr>
              <a:t>onlinelibrary.wiley.com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arXiv (</a:t>
            </a:r>
            <a:r>
              <a:rPr lang="en-US" sz="1300" u="sng">
                <a:solidFill>
                  <a:schemeClr val="hlink"/>
                </a:solidFill>
                <a:hlinkClick r:id="rId12"/>
              </a:rPr>
              <a:t>arxiv.org</a:t>
            </a:r>
            <a:r>
              <a:rPr lang="en-US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475569"/>
              </a:solidFill>
            </a:endParaRPr>
          </a:p>
        </p:txBody>
      </p:sp>
      <p:sp>
        <p:nvSpPr>
          <p:cNvPr id="162" name="Google Shape;162;g3b529da6c9d_0_3"/>
          <p:cNvSpPr/>
          <p:nvPr/>
        </p:nvSpPr>
        <p:spPr>
          <a:xfrm>
            <a:off x="6446520" y="1508760"/>
            <a:ext cx="2148900" cy="384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b529da6c9d_0_3"/>
          <p:cNvSpPr/>
          <p:nvPr/>
        </p:nvSpPr>
        <p:spPr>
          <a:xfrm>
            <a:off x="6611112" y="15819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Outras Fontes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b529da6c9d_0_3"/>
          <p:cNvSpPr/>
          <p:nvPr/>
        </p:nvSpPr>
        <p:spPr>
          <a:xfrm>
            <a:off x="6446520" y="1965960"/>
            <a:ext cx="5184600" cy="443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b529da6c9d_0_3"/>
          <p:cNvSpPr/>
          <p:nvPr/>
        </p:nvSpPr>
        <p:spPr>
          <a:xfrm>
            <a:off x="6766560" y="2185313"/>
            <a:ext cx="46818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</a:rPr>
              <a:t>Sites dos grupos de pesquisas de reconhecidos</a:t>
            </a:r>
            <a:endParaRPr sz="1600">
              <a:solidFill>
                <a:srgbClr val="0F172A"/>
              </a:solidFill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Char char="•"/>
            </a:pPr>
            <a:r>
              <a:rPr lang="en-US" sz="1600">
                <a:solidFill>
                  <a:srgbClr val="0F172A"/>
                </a:solidFill>
              </a:rPr>
              <a:t>Pesquisadores reconhecidos em suas áreas</a:t>
            </a:r>
            <a:endParaRPr sz="1600">
              <a:solidFill>
                <a:srgbClr val="0F172A"/>
              </a:solidFill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Char char="•"/>
            </a:pPr>
            <a:r>
              <a:rPr lang="en-US" sz="1600">
                <a:solidFill>
                  <a:srgbClr val="0F172A"/>
                </a:solidFill>
              </a:rPr>
              <a:t>Revistas científicas de alto impacto podem conter artigos importantes:</a:t>
            </a:r>
            <a:endParaRPr sz="16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Nature (nature.com)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Science (science.org)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Scientific American (scientificamerican.com)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PNAS - Proceedings National Academy of Sciences (pnas.org)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Cell (cell.com)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The Lancet (thelancet.com)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PLOS (</a:t>
            </a:r>
            <a:r>
              <a:rPr lang="en-US" sz="1000" u="sng">
                <a:solidFill>
                  <a:schemeClr val="hlink"/>
                </a:solidFill>
                <a:hlinkClick r:id="rId13"/>
              </a:rPr>
              <a:t>plos.org</a:t>
            </a:r>
            <a:r>
              <a:rPr lang="en-US" sz="1000">
                <a:solidFill>
                  <a:srgbClr val="0F172A"/>
                </a:solidFill>
              </a:rPr>
              <a:t>)</a:t>
            </a:r>
            <a:endParaRPr sz="1000">
              <a:solidFill>
                <a:srgbClr val="0F172A"/>
              </a:solidFill>
            </a:endParaRPr>
          </a:p>
          <a:p>
            <a:pPr indent="-29210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000"/>
              <a:buChar char="○"/>
            </a:pPr>
            <a:r>
              <a:rPr lang="en-US" sz="1000">
                <a:solidFill>
                  <a:srgbClr val="0F172A"/>
                </a:solidFill>
              </a:rPr>
              <a:t>PubMed (pubmed.ncbi.nlm.nih.gov)</a:t>
            </a:r>
            <a:endParaRPr sz="10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6) Onde buscar (IA)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Cobertura costuma exigir múltiplas fontes (bases + preprints + snowballing)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Fontes recomendadas para IA (e por quê)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59536" y="1709928"/>
            <a:ext cx="4855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Bases bibliográficas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86968" y="2075688"/>
            <a:ext cx="493776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Scopus / Web of Science: boa cobertura multiárea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IEEE Xplore + ACM DL + DBLP: essencial para computação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PubMed (se IA aplicada à saúde/biomedicina)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199632" y="1508760"/>
            <a:ext cx="5440680" cy="1874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92240" y="1709928"/>
            <a:ext cx="4855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Motores acadêmicos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519672" y="2075688"/>
            <a:ext cx="493776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Google Scholar: amplo, mas menos “auditável”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Semantic Scholar: bom para exploração e citações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Lens.org (patentes/academia, se relevante)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66928" y="3703320"/>
            <a:ext cx="5440680" cy="1874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59536" y="3904488"/>
            <a:ext cx="4855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Preprints e reprodutibilidade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86968" y="4270248"/>
            <a:ext cx="493776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arXiv: central para IA (conferências e tendências)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Papers with Code: conecta papers ↔ código ↔ benchmarks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OpenReview: conferências com revisão aberta (quando aplicável)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199632" y="3703320"/>
            <a:ext cx="5440680" cy="1874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492240" y="3904488"/>
            <a:ext cx="4855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Snowballing (complementar)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519672" y="4270248"/>
            <a:ext cx="493776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Backward: olhar referências dos estudos incluídos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Forward: rastrear quem citou (bases/Google Scholar)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Útil para reduzir “falsos negativos” da string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5) Strings de busca (booleana)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Regra prática: OR para sinônimos; AND para combinar conceitos; NOT com cuidado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Como construir boas strings (IA)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66928" y="1508760"/>
            <a:ext cx="562356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86968" y="1828800"/>
            <a:ext cx="512064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Comece por 2–4 conceitos do PICOC e liste sinônimos/variações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operadores e parênteses para controlar a lógica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Inclua nomes “de moda” e termos históricos (ex.: LLM, transformer, foundation model)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Ajuste por base: campos (TITLE-ABS-KEY), aspas, curingas (*), proximidade (NEAR/n)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Teste a string com “sentinel papers” (artigos que você espera recuperar)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44652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61111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Exemplo de query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446520" y="1965960"/>
            <a:ext cx="5184648" cy="3246120"/>
          </a:xfrm>
          <a:prstGeom prst="roundRect">
            <a:avLst>
              <a:gd fmla="val 16667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720840" y="2194560"/>
            <a:ext cx="4681728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(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("retrieval augmented generation" OR RAG OR "context retrieval")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AND ("large language model" OR LLM OR transformer)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AND (factual* OR hallucinat* OR "faithful generation")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AND (portuguese OR "pt-BR" OR Brazil)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scadia Mono"/>
              <a:buNone/>
            </a:pPr>
            <a:r>
              <a:rPr lang="en-US" sz="1200">
                <a:solidFill>
                  <a:srgbClr val="E5E7EB"/>
                </a:solidFill>
                <a:latin typeface="Cascadia Mono"/>
                <a:ea typeface="Cascadia Mono"/>
                <a:cs typeface="Cascadia Mono"/>
                <a:sym typeface="Cascadia Mono"/>
              </a:rPr>
              <a:t>NOT (patent OR "editorial")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446520" y="5349240"/>
            <a:ext cx="5184648" cy="685800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A5F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720840" y="551383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Dica: salve a string por base (ex.: Scopus vs IEEE) e registre data/hora da execução.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7) Execução e gestão das referências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Geralmente: exporte BibTeX/RIS → gerenciador (Zotero/Mendeley) → deduplicação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Da busca ao dataset de triagem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22960" y="1965960"/>
            <a:ext cx="20574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22960" y="1965960"/>
            <a:ext cx="2057400" cy="137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22960" y="2167128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(queries)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2907792" y="2468880"/>
            <a:ext cx="128016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8"/>
          <p:cNvSpPr/>
          <p:nvPr/>
        </p:nvSpPr>
        <p:spPr>
          <a:xfrm>
            <a:off x="3063240" y="1965960"/>
            <a:ext cx="20574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063240" y="1965960"/>
            <a:ext cx="2057400" cy="1371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063240" y="2167128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Exportar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(RIS/BibTeX)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8"/>
          <p:cNvCxnSpPr/>
          <p:nvPr/>
        </p:nvCxnSpPr>
        <p:spPr>
          <a:xfrm>
            <a:off x="5148072" y="2468880"/>
            <a:ext cx="128016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8"/>
          <p:cNvSpPr/>
          <p:nvPr/>
        </p:nvSpPr>
        <p:spPr>
          <a:xfrm>
            <a:off x="5303520" y="1965960"/>
            <a:ext cx="20574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303520" y="1965960"/>
            <a:ext cx="2057400" cy="1371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303520" y="2167128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Gerenciador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(Zotero)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7388352" y="2468880"/>
            <a:ext cx="128016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8"/>
          <p:cNvSpPr/>
          <p:nvPr/>
        </p:nvSpPr>
        <p:spPr>
          <a:xfrm>
            <a:off x="7543800" y="1965960"/>
            <a:ext cx="20574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543800" y="1965960"/>
            <a:ext cx="2057400" cy="137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543800" y="2167128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Deduplicar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+ normalizar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9628632" y="2468880"/>
            <a:ext cx="128016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8"/>
          <p:cNvSpPr/>
          <p:nvPr/>
        </p:nvSpPr>
        <p:spPr>
          <a:xfrm>
            <a:off x="9784080" y="1965960"/>
            <a:ext cx="20574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9784080" y="1965960"/>
            <a:ext cx="2057400" cy="1371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784080" y="2167128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Triagem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(Rayyan)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66928" y="33375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31520" y="3410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Boas práticas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66928" y="3794760"/>
            <a:ext cx="1106424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86968" y="4114800"/>
            <a:ext cx="10561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Salve: string, base, campo, filtros e data de execução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Exporte metadados completos (DOI, resumo, keywords)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Deduplicação: DOI + título + ano (revise casos ambíguos)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Mantenha um “log” (planilha) com contagens por etapa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8) Triagem: título/resumo → texto completo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Ideal: 2 revisores independentes + resolução de conflitos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Triagem em 3 filtros (e como reduzir viés)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66928" y="1508760"/>
            <a:ext cx="5440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22960" y="1764792"/>
            <a:ext cx="502920" cy="50292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22960" y="181965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435608" y="1737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Remover duplicatas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435608" y="212140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Automático + revisão manual.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Registre quantos foram removidos e por qual regra.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66928" y="3063240"/>
            <a:ext cx="5440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22960" y="3319272"/>
            <a:ext cx="502920" cy="502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22960" y="337413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435608" y="3291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Título &amp; resumo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435608" y="36758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Aplicar critérios I/E rapidamente.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Marque motivos comuns de exclusão.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66928" y="4617720"/>
            <a:ext cx="5440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22960" y="4873752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22960" y="492861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435608" y="4846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Texto completo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435608" y="523036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Aplicar critérios em profundidade.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Registrar motivo específico para cada exclusão.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35508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51967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Concordância e rastreio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355080" y="1965960"/>
            <a:ext cx="5276088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675120" y="2240280"/>
            <a:ext cx="46634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Dois revisores</a:t>
            </a:r>
            <a: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reduz viés individual</a:t>
            </a:r>
            <a:b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Kappa/percent agreement</a:t>
            </a:r>
            <a: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monitora consistência</a:t>
            </a:r>
            <a:b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Ferramentas</a:t>
            </a:r>
            <a: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Rayyan/Covidence para triagem e conflitos</a:t>
            </a:r>
            <a:b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Motivos de exclusão</a:t>
            </a:r>
            <a: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padronize categorias (ex.: “fora do escopo”, “sem avaliação”)</a:t>
            </a:r>
            <a:b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Checklist de elegibilidade</a:t>
            </a:r>
            <a:r>
              <a:rPr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 transforme critérios em perguntas “sim/não”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9) Qualidade e extração de dados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Em IA, atenção especial a: datasets, protocolos de avaliação, vieses e reprodutibilidade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Depois de selecionar: avaliar e extrair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66928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31520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de qualidade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66928" y="1965960"/>
            <a:ext cx="56235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886968" y="2286000"/>
            <a:ext cx="51206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Clareza do método e descrição do experimento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Definição do dataset + split + pré-processamento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Baselines apropriadas e comparação justa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Métricas e significância (quando aplicável)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Disponibilidade de código/modelo (reprodutibilidade)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44652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61111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Extração (planilha)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446520" y="1965960"/>
            <a:ext cx="5184648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748272" y="21945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Play"/>
              <a:buNone/>
            </a:pPr>
            <a:r>
              <a:rPr b="1" lang="en-US" sz="1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Campos típicos: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766560" y="260604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Referência (DOI, venue, ano)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Tarefa e domínio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Técnica (arquitetura, treino, dados)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Datasets e tamanhos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Métricas + resultados principais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Custo/latência/energia (se relevante)</a:t>
            </a:r>
            <a:b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Ameaças à validade / limitações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66928" y="128016"/>
            <a:ext cx="110578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ay"/>
              <a:buNone/>
            </a:pPr>
            <a:r>
              <a:rPr lang="en-US" sz="1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11) Checklist final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66928" y="6583680"/>
            <a:ext cx="11057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Próximo passo: execute um “piloto” (1–2 bases) e refine strings + critérios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66928" y="8412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Checklist para sair do PowerPoint e ir para a prática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66928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31520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da busca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66928" y="1965960"/>
            <a:ext cx="562356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886968" y="2286000"/>
            <a:ext cx="51206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Pergunta + escopo (PICOC) definidos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Critérios I/E escritos e testados em 5–10 papers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Lista de sinônimos + termos de IA (novos e antigos)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Bases escolhidas e campos de busca definidos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66928" y="452628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31520" y="45994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66928" y="4983480"/>
            <a:ext cx="56235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86968" y="5303520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Registrar queries, datas, filtros e contagens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Exportar e deduplicar com rastreabilidade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Triagem com motivos padronizados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446520" y="1508760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100000" dist="12700">
              <a:srgbClr val="000000">
                <a:alpha val="1372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611112" y="15819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446520" y="1965960"/>
            <a:ext cx="5184648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766560" y="2286000"/>
            <a:ext cx="4681728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Avaliação de qualidade + extração em planilha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Síntese (tabelas, taxonomia, lacunas)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Relato PRISMA + anexos (strings e lista de exclusões)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Repositório: dataset, scripts e versão do protocolo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2026-01-07T02:50:56Z</dcterms:created>
  <dc:creator>ChatGPT</dc:creator>
</cp:coreProperties>
</file>